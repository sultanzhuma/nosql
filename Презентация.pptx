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070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300" b="1">
                <a:solidFill>
                  <a:srgbClr val="48BEEB"/>
                </a:solidFill>
                <a:latin typeface="Aptos"/>
              </a:defRPr>
            </a:pPr>
            <a:r>
              <a:t>ПРОЕКТИРОВАНИЕ И ПРИМЕНЕНИЕ NoSQL-ТЕХНОЛОГИЙ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515600" cy="1325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3400" b="1">
                <a:solidFill>
                  <a:srgbClr val="EDF4FC"/>
                </a:solidFill>
                <a:latin typeface="Aptos"/>
              </a:defRPr>
            </a:pPr>
            <a:r>
              <a:t>Графовая модель системы</a:t>
            </a:r>
            <a:br/>
            <a:r>
              <a:t>бронирования в Neo4j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54680"/>
            <a:ext cx="987552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900" b="0">
                <a:solidFill>
                  <a:srgbClr val="9EB3CA"/>
                </a:solidFill>
                <a:latin typeface="Aptos"/>
              </a:defRPr>
            </a:pPr>
            <a:r>
              <a:t>Лабораторная работа № 7 · Индивидуальный вариант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160520"/>
            <a:ext cx="3291840" cy="114300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325112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48BEEB"/>
                </a:solidFill>
                <a:latin typeface="Aptos"/>
              </a:defRPr>
            </a:pPr>
            <a:r>
              <a:t>Узлы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754880"/>
            <a:ext cx="2926080" cy="4297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User · Resource · Location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160520"/>
            <a:ext cx="3291840" cy="114300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325112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4CD29E"/>
                </a:solidFill>
                <a:latin typeface="Aptos"/>
              </a:defRPr>
            </a:pPr>
            <a:r>
              <a:t>Связи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4754880"/>
            <a:ext cx="2926080" cy="4297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BOOKED · LOCATED_IN · NEAR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4160520"/>
            <a:ext cx="3291840" cy="114300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4325112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F8BE4B"/>
                </a:solidFill>
                <a:latin typeface="Aptos"/>
              </a:defRPr>
            </a:pPr>
            <a:r>
              <a:t>Запросы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4754880"/>
            <a:ext cx="2926080" cy="4297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Cypher · обходы · count()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9601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200" b="0">
                <a:solidFill>
                  <a:srgbClr val="9EB3CA"/>
                </a:solidFill>
                <a:latin typeface="Aptos"/>
              </a:defRPr>
            </a:pPr>
            <a:r>
              <a:t>Студент: ____________________     Группа: __________     Преподаватель: 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00" b="0">
                <a:solidFill>
                  <a:srgbClr val="9EB3CA"/>
                </a:solidFill>
                <a:latin typeface="Aptos"/>
              </a:defRPr>
            </a:pPr>
            <a:r>
              <a:t>Лабораторная работа № 7 · Neo4j · Вариант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1000" b="0">
                <a:solidFill>
                  <a:srgbClr val="9EB3CA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3000" b="1">
                <a:solidFill>
                  <a:srgbClr val="EDF4FC"/>
                </a:solidFill>
                <a:latin typeface="Aptos"/>
              </a:defRPr>
            </a:pPr>
            <a:r>
              <a:t>1. Цель и назначение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300" b="0">
                <a:solidFill>
                  <a:srgbClr val="9EB3CA"/>
                </a:solidFill>
                <a:latin typeface="Aptos"/>
              </a:defRPr>
            </a:pPr>
            <a:r>
              <a:t>Учебный прототип для анализа связей между пользователями, ресурсами и локациями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41148"/>
          </a:xfrm>
          <a:prstGeom prst="rect">
            <a:avLst/>
          </a:prstGeom>
          <a:solidFill>
            <a:srgbClr val="48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6766560" cy="411480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EDF4FC"/>
                </a:solidFill>
                <a:latin typeface="Aptos"/>
              </a:defRPr>
            </a:pPr>
            <a:r>
              <a:t>• Спроектировать property graph-модель системы бронирования.</a:t>
            </a:r>
          </a:p>
          <a:p>
            <a:pPr>
              <a:spcAft>
                <a:spcPts val="1400"/>
              </a:spcAft>
              <a:defRPr sz="1900">
                <a:solidFill>
                  <a:srgbClr val="EDF4FC"/>
                </a:solidFill>
                <a:latin typeface="Aptos"/>
              </a:defRPr>
            </a:pPr>
            <a:r>
              <a:t>• Создать узлы и направленные отношения с помощью Cypher.</a:t>
            </a:r>
          </a:p>
          <a:p>
            <a:pPr>
              <a:spcAft>
                <a:spcPts val="1400"/>
              </a:spcAft>
              <a:defRPr sz="1900">
                <a:solidFill>
                  <a:srgbClr val="EDF4FC"/>
                </a:solidFill>
                <a:latin typeface="Aptos"/>
              </a:defRPr>
            </a:pPr>
            <a:r>
              <a:t>• Реализовать поиск, фильтрацию, сортировку и агрегирование.</a:t>
            </a:r>
          </a:p>
          <a:p>
            <a:pPr>
              <a:spcAft>
                <a:spcPts val="1400"/>
              </a:spcAft>
              <a:defRPr sz="1900">
                <a:solidFill>
                  <a:srgbClr val="EDF4FC"/>
                </a:solidFill>
                <a:latin typeface="Aptos"/>
              </a:defRPr>
            </a:pPr>
            <a:r>
              <a:t>• Выполнить двухшаговый и ограниченный обход переменной длины.</a:t>
            </a:r>
          </a:p>
          <a:p>
            <a:pPr>
              <a:spcAft>
                <a:spcPts val="1400"/>
              </a:spcAft>
              <a:defRPr sz="1900">
                <a:solidFill>
                  <a:srgbClr val="EDF4FC"/>
                </a:solidFill>
                <a:latin typeface="Aptos"/>
              </a:defRPr>
            </a:pPr>
            <a:r>
              <a:t>• Изменить свойство и безопасно удалить тестовую связь.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828800"/>
            <a:ext cx="3291840" cy="109728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59" y="1993392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4CD29E"/>
                </a:solidFill>
                <a:latin typeface="Aptos"/>
              </a:defRPr>
            </a:pPr>
            <a:r>
              <a:t>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59" y="2423160"/>
            <a:ext cx="2926080" cy="38404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Полностью синтетические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246120"/>
            <a:ext cx="3291840" cy="109728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59" y="3410712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48BEEB"/>
                </a:solidFill>
                <a:latin typeface="Aptos"/>
              </a:defRPr>
            </a:pPr>
            <a:r>
              <a:t>Объём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9" y="3840480"/>
            <a:ext cx="2926080" cy="38404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19 узлов · 24 отношения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4663440"/>
            <a:ext cx="3291840" cy="109728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9" y="4828031"/>
            <a:ext cx="29260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F8BE4B"/>
                </a:solidFill>
                <a:latin typeface="Aptos"/>
              </a:defRPr>
            </a:pPr>
            <a:r>
              <a:t>Результат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9" y="5257800"/>
            <a:ext cx="2926080" cy="38404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8 запросов Cypher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00" b="0">
                <a:solidFill>
                  <a:srgbClr val="9EB3CA"/>
                </a:solidFill>
                <a:latin typeface="Aptos"/>
              </a:defRPr>
            </a:pPr>
            <a:r>
              <a:t>Лабораторная работа № 7 · Neo4j · Вариант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1000" b="0">
                <a:solidFill>
                  <a:srgbClr val="9EB3CA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3000" b="1">
                <a:solidFill>
                  <a:srgbClr val="EDF4FC"/>
                </a:solidFill>
                <a:latin typeface="Aptos"/>
              </a:defRPr>
            </a:pPr>
            <a:r>
              <a:t>2. Property graph-модель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300" b="0">
                <a:solidFill>
                  <a:srgbClr val="9EB3CA"/>
                </a:solidFill>
                <a:latin typeface="Aptos"/>
              </a:defRPr>
            </a:pPr>
            <a:r>
              <a:t>Три метки узлов и три типа отношений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41148"/>
          </a:xfrm>
          <a:prstGeom prst="rect">
            <a:avLst/>
          </a:prstGeom>
          <a:solidFill>
            <a:srgbClr val="48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2560320" cy="1463040"/>
          </a:xfrm>
          <a:prstGeom prst="roundRect">
            <a:avLst/>
          </a:prstGeom>
          <a:solidFill>
            <a:srgbClr val="3877BE"/>
          </a:solidFill>
          <a:ln>
            <a:solidFill>
              <a:srgbClr val="48B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2404872"/>
            <a:ext cx="2340863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000" b="1">
                <a:solidFill>
                  <a:srgbClr val="EDF4FC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898648"/>
            <a:ext cx="2340863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EDF4FC"/>
                </a:solidFill>
                <a:latin typeface="Aptos"/>
              </a:defRPr>
            </a:pPr>
            <a:r>
              <a:t>userId, name, email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240280"/>
            <a:ext cx="2560320" cy="1463040"/>
          </a:xfrm>
          <a:prstGeom prst="roundRect">
            <a:avLst/>
          </a:prstGeom>
          <a:solidFill>
            <a:srgbClr val="145A48"/>
          </a:solidFill>
          <a:ln>
            <a:solidFill>
              <a:srgbClr val="48B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18888" y="2404872"/>
            <a:ext cx="2340863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000" b="1">
                <a:solidFill>
                  <a:srgbClr val="EDF4FC"/>
                </a:solidFill>
                <a:latin typeface="Aptos"/>
              </a:defRPr>
            </a:pPr>
            <a:r>
              <a:t>Resource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2898648"/>
            <a:ext cx="2340863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EDF4FC"/>
                </a:solidFill>
                <a:latin typeface="Aptos"/>
              </a:defRPr>
            </a:pPr>
            <a:r>
              <a:t>resourceId, price, available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1080" y="2240280"/>
            <a:ext cx="2560320" cy="1463040"/>
          </a:xfrm>
          <a:prstGeom prst="roundRect">
            <a:avLst/>
          </a:prstGeom>
          <a:solidFill>
            <a:srgbClr val="69461E"/>
          </a:solidFill>
          <a:ln>
            <a:solidFill>
              <a:srgbClr val="48B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50807" y="2404872"/>
            <a:ext cx="2340863" cy="347472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2000" b="1">
                <a:solidFill>
                  <a:srgbClr val="EDF4FC"/>
                </a:solidFill>
                <a:latin typeface="Aptos"/>
              </a:defRPr>
            </a:pPr>
            <a: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0807" y="2898648"/>
            <a:ext cx="2340863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200" b="0">
                <a:solidFill>
                  <a:srgbClr val="EDF4FC"/>
                </a:solidFill>
                <a:latin typeface="Aptos"/>
              </a:defRPr>
            </a:pPr>
            <a:r>
              <a:t>locationId, name, city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3280" y="2926080"/>
            <a:ext cx="1325880" cy="0"/>
          </a:xfrm>
          <a:prstGeom prst="line">
            <a:avLst/>
          </a:prstGeom>
          <a:ln w="27940">
            <a:solidFill>
              <a:srgbClr val="48BE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29000" y="2468880"/>
            <a:ext cx="1234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48BEEB"/>
                </a:solidFill>
                <a:latin typeface="Aptos"/>
              </a:defRPr>
            </a:pPr>
            <a:r>
              <a:t>BOOKED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69480" y="2926080"/>
            <a:ext cx="1371600" cy="0"/>
          </a:xfrm>
          <a:prstGeom prst="line">
            <a:avLst/>
          </a:prstGeom>
          <a:ln w="27940">
            <a:solidFill>
              <a:srgbClr val="4CD2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0" y="2468880"/>
            <a:ext cx="128015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>
              <a:defRPr sz="1100" b="1">
                <a:solidFill>
                  <a:srgbClr val="4CD29E"/>
                </a:solidFill>
                <a:latin typeface="Aptos"/>
              </a:defRPr>
            </a:pPr>
            <a:r>
              <a:t>LOCATED_IN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4389120"/>
            <a:ext cx="6217920" cy="96012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4553712"/>
            <a:ext cx="585215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F8BE4B"/>
                </a:solidFill>
                <a:latin typeface="Aptos"/>
              </a:defRPr>
            </a:pPr>
            <a:r>
              <a:t>NEAR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983480"/>
            <a:ext cx="5852159" cy="24688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Location → Location · свойство distanceKm · глубина обхода 1–2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715000"/>
            <a:ext cx="1042416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9EB3CA"/>
                </a:solidFill>
                <a:latin typeface="Aptos"/>
              </a:defRPr>
            </a:pPr>
            <a:r>
              <a:t>BOOKED хранит bookingId, checkIn, checkOut и status на самом отношении.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00" b="0">
                <a:solidFill>
                  <a:srgbClr val="9EB3CA"/>
                </a:solidFill>
                <a:latin typeface="Aptos"/>
              </a:defRPr>
            </a:pPr>
            <a:r>
              <a:t>Лабораторная работа № 7 · Neo4j · Вариант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1000" b="0">
                <a:solidFill>
                  <a:srgbClr val="9EB3CA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3000" b="1">
                <a:solidFill>
                  <a:srgbClr val="EDF4FC"/>
                </a:solidFill>
                <a:latin typeface="Aptos"/>
              </a:defRPr>
            </a:pPr>
            <a:r>
              <a:t>3. Паттерны доступа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300" b="0">
                <a:solidFill>
                  <a:srgbClr val="9EB3CA"/>
                </a:solidFill>
                <a:latin typeface="Aptos"/>
              </a:defRPr>
            </a:pPr>
            <a:r>
              <a:t>Запросы начинаются с вопросов пользователя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41148"/>
          </a:xfrm>
          <a:prstGeom prst="rect">
            <a:avLst/>
          </a:prstGeom>
          <a:solidFill>
            <a:srgbClr val="48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37560" cy="150876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48BEEB"/>
                </a:solidFill>
                <a:latin typeface="Aptos"/>
              </a:defRPr>
            </a:pPr>
            <a:r>
              <a:t>AP1 · Доступность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971800" cy="7955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available + цена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37360"/>
            <a:ext cx="3337560" cy="150876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901952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4CD29E"/>
                </a:solidFill>
                <a:latin typeface="Aptos"/>
              </a:defRPr>
            </a:pPr>
            <a:r>
              <a:t>AP2 · Бронирования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331720"/>
            <a:ext cx="2971800" cy="7955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User → BOOKED → Resource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737360"/>
            <a:ext cx="3337560" cy="150876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901952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F8BE4B"/>
                </a:solidFill>
                <a:latin typeface="Aptos"/>
              </a:defRPr>
            </a:pPr>
            <a:r>
              <a:t>AP3 · Локация ресурса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331720"/>
            <a:ext cx="2971800" cy="7955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Resource → LOCATED_IN → 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3337560" cy="150876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59352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48BEEB"/>
                </a:solidFill>
                <a:latin typeface="Aptos"/>
              </a:defRPr>
            </a:pPr>
            <a:r>
              <a:t>AP4 · Соседние локации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2971800" cy="7955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NEAR*1..2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3794760"/>
            <a:ext cx="3337560" cy="150876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3959352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4CD29E"/>
                </a:solidFill>
                <a:latin typeface="Aptos"/>
              </a:defRPr>
            </a:pPr>
            <a:r>
              <a:t>AP5 · Количество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389120"/>
            <a:ext cx="2971800" cy="7955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count()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794760"/>
            <a:ext cx="3337560" cy="150876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0" y="3959352"/>
            <a:ext cx="29718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F8BE4B"/>
                </a:solidFill>
                <a:latin typeface="Aptos"/>
              </a:defRPr>
            </a:pPr>
            <a:r>
              <a:t>AP6 · Альтернативы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389120"/>
            <a:ext cx="2971800" cy="7955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путь + фильтр доступности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00" b="0">
                <a:solidFill>
                  <a:srgbClr val="9EB3CA"/>
                </a:solidFill>
                <a:latin typeface="Aptos"/>
              </a:defRPr>
            </a:pPr>
            <a:r>
              <a:t>Лабораторная работа № 7 · Neo4j · Вариант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1000" b="0">
                <a:solidFill>
                  <a:srgbClr val="9EB3CA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3000" b="1">
                <a:solidFill>
                  <a:srgbClr val="EDF4FC"/>
                </a:solidFill>
                <a:latin typeface="Aptos"/>
              </a:defRPr>
            </a:pPr>
            <a:r>
              <a:t>4. Учебные данные и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300" b="0">
                <a:solidFill>
                  <a:srgbClr val="9EB3CA"/>
                </a:solidFill>
                <a:latin typeface="Aptos"/>
              </a:defRPr>
            </a:pPr>
            <a:r>
              <a:t>Уникальные идентификаторы и MERGE помогают избежать дубликатов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41148"/>
          </a:xfrm>
          <a:prstGeom prst="rect">
            <a:avLst/>
          </a:prstGeom>
          <a:solidFill>
            <a:srgbClr val="48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246120" cy="150876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93392"/>
            <a:ext cx="2880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48BEEB"/>
                </a:solidFill>
                <a:latin typeface="Aptos"/>
              </a:defRPr>
            </a:pPr>
            <a:r>
              <a:t>6 пользователей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880360" cy="7955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Метки User · userId уникален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46120" cy="150876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993392"/>
            <a:ext cx="2880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4CD29E"/>
                </a:solidFill>
                <a:latin typeface="Aptos"/>
              </a:defRPr>
            </a:pPr>
            <a:r>
              <a:t>8 ресурсов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23160"/>
            <a:ext cx="2880360" cy="7955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Метки Resource · resourceId уникален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28800"/>
            <a:ext cx="3246120" cy="150876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59" y="1993392"/>
            <a:ext cx="2880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F8BE4B"/>
                </a:solidFill>
                <a:latin typeface="Aptos"/>
              </a:defRPr>
            </a:pPr>
            <a:r>
              <a:t>5 локаций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59" y="2423160"/>
            <a:ext cx="2880360" cy="79552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Метки Location · locationId уникален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10332720" cy="38404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100" b="1">
                <a:solidFill>
                  <a:srgbClr val="EDF4FC"/>
                </a:solidFill>
                <a:latin typeface="Aptos"/>
              </a:defRPr>
            </a:pPr>
            <a:r>
              <a:t>Итого: 19 узлов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042416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000" b="1">
                <a:solidFill>
                  <a:srgbClr val="48BEEB"/>
                </a:solidFill>
                <a:latin typeface="Aptos"/>
              </a:defRPr>
            </a:pPr>
            <a:r>
              <a:t>8 BOOKED  +  8 LOCATED_IN  +  8 NEAR  =  24 отношения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03520"/>
            <a:ext cx="1051560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300" b="0">
                <a:solidFill>
                  <a:srgbClr val="9EB3CA"/>
                </a:solidFill>
                <a:latin typeface="Aptos"/>
              </a:defRPr>
            </a:pPr>
            <a:r>
              <a:t>В исходном наборе каждый объект использует синтетические учебные данные.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00" b="0">
                <a:solidFill>
                  <a:srgbClr val="9EB3CA"/>
                </a:solidFill>
                <a:latin typeface="Aptos"/>
              </a:defRPr>
            </a:pPr>
            <a:r>
              <a:t>Лабораторная работа № 7 · Neo4j · Вариант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1000" b="0">
                <a:solidFill>
                  <a:srgbClr val="9EB3CA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3000" b="1">
                <a:solidFill>
                  <a:srgbClr val="EDF4FC"/>
                </a:solidFill>
                <a:latin typeface="Aptos"/>
              </a:defRPr>
            </a:pPr>
            <a:r>
              <a:t>5. Запросы Cypher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300" b="0">
                <a:solidFill>
                  <a:srgbClr val="9EB3CA"/>
                </a:solidFill>
                <a:latin typeface="Aptos"/>
              </a:defRPr>
            </a:pPr>
            <a:r>
              <a:t>В проекте предусмотрено восемь демонстрационных запросов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41148"/>
          </a:xfrm>
          <a:prstGeom prst="rect">
            <a:avLst/>
          </a:prstGeom>
          <a:solidFill>
            <a:srgbClr val="48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5303520" cy="347472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DF4FC"/>
                </a:solidFill>
                <a:latin typeface="Aptos"/>
              </a:defRPr>
            </a:pPr>
            <a:r>
              <a:t>• Q01 — MATCH: список пользователей</a:t>
            </a:r>
          </a:p>
          <a:p>
            <a:pPr>
              <a:spcAft>
                <a:spcPts val="1400"/>
              </a:spcAft>
              <a:defRPr sz="1700">
                <a:solidFill>
                  <a:srgbClr val="EDF4FC"/>
                </a:solidFill>
                <a:latin typeface="Aptos"/>
              </a:defRPr>
            </a:pPr>
            <a:r>
              <a:t>• Q02 — фильтрация ресурсов по цене</a:t>
            </a:r>
          </a:p>
          <a:p>
            <a:pPr>
              <a:spcAft>
                <a:spcPts val="1400"/>
              </a:spcAft>
              <a:defRPr sz="1700">
                <a:solidFill>
                  <a:srgbClr val="EDF4FC"/>
                </a:solidFill>
                <a:latin typeface="Aptos"/>
              </a:defRPr>
            </a:pPr>
            <a:r>
              <a:t>• Q03 — ORDER BY и LIMIT</a:t>
            </a:r>
          </a:p>
          <a:p>
            <a:pPr>
              <a:spcAft>
                <a:spcPts val="1400"/>
              </a:spcAft>
              <a:defRPr sz="1700">
                <a:solidFill>
                  <a:srgbClr val="EDF4FC"/>
                </a:solidFill>
                <a:latin typeface="Aptos"/>
              </a:defRPr>
            </a:pPr>
            <a:r>
              <a:t>• Q04 — поиск отношений BOOKED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737360"/>
            <a:ext cx="5029200" cy="347472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EDF4FC"/>
                </a:solidFill>
                <a:latin typeface="Aptos"/>
              </a:defRPr>
            </a:pPr>
            <a:r>
              <a:t>• Q05 — User → Resource → Location</a:t>
            </a:r>
          </a:p>
          <a:p>
            <a:pPr>
              <a:spcAft>
                <a:spcPts val="1400"/>
              </a:spcAft>
              <a:defRPr sz="1700">
                <a:solidFill>
                  <a:srgbClr val="EDF4FC"/>
                </a:solidFill>
                <a:latin typeface="Aptos"/>
              </a:defRPr>
            </a:pPr>
            <a:r>
              <a:t>• Q06 — обход NEAR*1..2</a:t>
            </a:r>
          </a:p>
          <a:p>
            <a:pPr>
              <a:spcAft>
                <a:spcPts val="1400"/>
              </a:spcAft>
              <a:defRPr sz="1700">
                <a:solidFill>
                  <a:srgbClr val="EDF4FC"/>
                </a:solidFill>
                <a:latin typeface="Aptos"/>
              </a:defRPr>
            </a:pPr>
            <a:r>
              <a:t>• Q07 — агрегирование count()</a:t>
            </a:r>
          </a:p>
          <a:p>
            <a:pPr>
              <a:spcAft>
                <a:spcPts val="1400"/>
              </a:spcAft>
              <a:defRPr sz="1700">
                <a:solidFill>
                  <a:srgbClr val="EDF4FC"/>
                </a:solidFill>
                <a:latin typeface="Aptos"/>
              </a:defRPr>
            </a:pPr>
            <a:r>
              <a:t>• Q08 — альтернативные ресурсы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5120640"/>
            <a:ext cx="8412480" cy="77724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5285231"/>
            <a:ext cx="804671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4CD29E"/>
                </a:solidFill>
                <a:latin typeface="Aptos"/>
              </a:defRPr>
            </a:pPr>
            <a:r>
              <a:t>Где код?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5715000"/>
            <a:ext cx="8046719" cy="64007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Код проекта/cypher/04_queries_Q01-Q08.cypher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00" b="0">
                <a:solidFill>
                  <a:srgbClr val="9EB3CA"/>
                </a:solidFill>
                <a:latin typeface="Aptos"/>
              </a:defRPr>
            </a:pPr>
            <a:r>
              <a:t>Лабораторная работа № 7 · Neo4j · Вариант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1000" b="0">
                <a:solidFill>
                  <a:srgbClr val="9EB3CA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3000" b="1">
                <a:solidFill>
                  <a:srgbClr val="EDF4FC"/>
                </a:solidFill>
                <a:latin typeface="Aptos"/>
              </a:defRPr>
            </a:pPr>
            <a:r>
              <a:t>6. Многошаговые обходы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300" b="0">
                <a:solidFill>
                  <a:srgbClr val="9EB3CA"/>
                </a:solidFill>
                <a:latin typeface="Aptos"/>
              </a:defRPr>
            </a:pPr>
            <a:r>
              <a:t>Главный плюс графовой модели — переход по отношениям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41148"/>
          </a:xfrm>
          <a:prstGeom prst="rect">
            <a:avLst/>
          </a:prstGeom>
          <a:solidFill>
            <a:srgbClr val="48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48BEEB"/>
                </a:solidFill>
                <a:latin typeface="Aptos"/>
              </a:defRPr>
            </a:pPr>
            <a:r>
              <a:t>Q05 · Двухшаговый путь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0">
                <a:solidFill>
                  <a:srgbClr val="EDF4FC"/>
                </a:solidFill>
                <a:latin typeface="Aptos"/>
              </a:defRPr>
            </a:pPr>
            <a:r>
              <a:t>(:User)-[:BOOKED]-&gt;(:Resource)-[:LOCATED_IN]-&gt;(:Location)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200" b="1">
                <a:solidFill>
                  <a:srgbClr val="F8BE4B"/>
                </a:solidFill>
                <a:latin typeface="Aptos"/>
              </a:defRPr>
            </a:pPr>
            <a:r>
              <a:t>Q06 · Обход переменной длины с ограничением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000" b="0">
                <a:solidFill>
                  <a:srgbClr val="EDF4FC"/>
                </a:solidFill>
                <a:latin typeface="Aptos"/>
              </a:defRPr>
            </a:pPr>
            <a:r>
              <a:t>(:Location)-[:NEAR*1..2]-&gt;(:Location)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92040"/>
            <a:ext cx="1042416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500" b="0">
                <a:solidFill>
                  <a:srgbClr val="9EB3CA"/>
                </a:solidFill>
                <a:latin typeface="Aptos"/>
              </a:defRPr>
            </a:pPr>
            <a:r>
              <a:t>Глубина ограничена двумя переходами, чтобы избежать излишне дорогого обхода.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00" b="0">
                <a:solidFill>
                  <a:srgbClr val="9EB3CA"/>
                </a:solidFill>
                <a:latin typeface="Aptos"/>
              </a:defRPr>
            </a:pPr>
            <a:r>
              <a:t>Лабораторная работа № 7 · Neo4j · Вариант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1000" b="0">
                <a:solidFill>
                  <a:srgbClr val="9EB3CA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3000" b="1">
                <a:solidFill>
                  <a:srgbClr val="EDF4FC"/>
                </a:solidFill>
                <a:latin typeface="Aptos"/>
              </a:defRPr>
            </a:pPr>
            <a:r>
              <a:t>7. Изменение и безопасное удаление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300" b="0">
                <a:solidFill>
                  <a:srgbClr val="9EB3CA"/>
                </a:solidFill>
                <a:latin typeface="Aptos"/>
              </a:defRPr>
            </a:pPr>
            <a:r>
              <a:t>Удаляем только одну тестовую связь — после предварительной проверки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41148"/>
          </a:xfrm>
          <a:prstGeom prst="rect">
            <a:avLst/>
          </a:prstGeom>
          <a:solidFill>
            <a:srgbClr val="48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182880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47672"/>
            <a:ext cx="470915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4CD29E"/>
                </a:solidFill>
                <a:latin typeface="Aptos"/>
              </a:defRPr>
            </a:pPr>
            <a:r>
              <a:t>1. Изменение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59" cy="11155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Изменить available у ресурса R008 и проверить новое значение через MATCH.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83080"/>
            <a:ext cx="5074920" cy="182880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47672"/>
            <a:ext cx="4709159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F8BE4B"/>
                </a:solidFill>
                <a:latin typeface="Aptos"/>
              </a:defRPr>
            </a:pPr>
            <a:r>
              <a:t>2. Предварительный просмотр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59" cy="11155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Найти U006 — B007 — R008 и вернуть выбранные элементы через RETURN.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4160520"/>
            <a:ext cx="7772400" cy="1143000"/>
          </a:xfrm>
          <a:prstGeom prst="roundRect">
            <a:avLst/>
          </a:prstGeom>
          <a:solidFill>
            <a:srgbClr val="152032"/>
          </a:solidFill>
          <a:ln>
            <a:solidFill>
              <a:srgbClr val="3041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4325112"/>
            <a:ext cx="740664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800" b="1">
                <a:solidFill>
                  <a:srgbClr val="48BEEB"/>
                </a:solidFill>
                <a:latin typeface="Aptos"/>
              </a:defRPr>
            </a:pPr>
            <a:r>
              <a:t>3. Контроль после удаления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4754880"/>
            <a:ext cx="7406640" cy="42976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400" b="0">
                <a:solidFill>
                  <a:srgbClr val="EDF4FC"/>
                </a:solidFill>
                <a:latin typeface="Aptos"/>
              </a:defRPr>
            </a:pPr>
            <a:r>
              <a:t>Удалить только relationship B007; повторный MATCH должен вернуть 0 строк.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00" b="0">
                <a:solidFill>
                  <a:srgbClr val="9EB3CA"/>
                </a:solidFill>
                <a:latin typeface="Aptos"/>
              </a:defRPr>
            </a:pPr>
            <a:r>
              <a:t>Лабораторная работа № 7 · Neo4j · Вариант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1000" b="0">
                <a:solidFill>
                  <a:srgbClr val="9EB3CA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1064240" cy="5029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3000" b="1">
                <a:solidFill>
                  <a:srgbClr val="EDF4FC"/>
                </a:solidFill>
                <a:latin typeface="Aptos"/>
              </a:defRPr>
            </a:pPr>
            <a:r>
              <a:t>8. 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1300" b="0">
                <a:solidFill>
                  <a:srgbClr val="9EB3CA"/>
                </a:solidFill>
                <a:latin typeface="Aptos"/>
              </a:defRPr>
            </a:pPr>
            <a:r>
              <a:t>Почему для этого кейса подходит Neo4j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98448"/>
            <a:ext cx="1143000" cy="41148"/>
          </a:xfrm>
          <a:prstGeom prst="rect">
            <a:avLst/>
          </a:prstGeom>
          <a:solidFill>
            <a:srgbClr val="48B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3383280"/>
          </a:xfrm>
          <a:prstGeom prst="rect">
            <a:avLst/>
          </a:prstGeom>
          <a:noFill/>
        </p:spPr>
        <p:txBody>
          <a:bodyPr wrap="square" lIns="73152" tIns="54864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DF4FC"/>
                </a:solidFill>
                <a:latin typeface="Aptos"/>
              </a:defRPr>
            </a:pPr>
            <a:r>
              <a:t>• Связи бронирований и локаций являются ключевой частью предметной области.</a:t>
            </a:r>
          </a:p>
          <a:p>
            <a:pPr>
              <a:spcAft>
                <a:spcPts val="1400"/>
              </a:spcAft>
              <a:defRPr sz="1800">
                <a:solidFill>
                  <a:srgbClr val="EDF4FC"/>
                </a:solidFill>
                <a:latin typeface="Aptos"/>
              </a:defRPr>
            </a:pPr>
            <a:r>
              <a:t>• Cypher напрямую выражает фильтрацию и многошаговые обходы.</a:t>
            </a:r>
          </a:p>
          <a:p>
            <a:pPr>
              <a:spcAft>
                <a:spcPts val="1400"/>
              </a:spcAft>
              <a:defRPr sz="1800">
                <a:solidFill>
                  <a:srgbClr val="EDF4FC"/>
                </a:solidFill>
                <a:latin typeface="Aptos"/>
              </a:defRPr>
            </a:pPr>
            <a:r>
              <a:t>• count() позволяет агрегировать бронирования по пользователям.</a:t>
            </a:r>
          </a:p>
          <a:p>
            <a:pPr>
              <a:spcAft>
                <a:spcPts val="1400"/>
              </a:spcAft>
              <a:defRPr sz="1800">
                <a:solidFill>
                  <a:srgbClr val="EDF4FC"/>
                </a:solidFill>
                <a:latin typeface="Aptos"/>
              </a:defRPr>
            </a:pPr>
            <a:r>
              <a:t>• Уникальные ограничения и ограниченная глубина пути делают поведение предсказуемее.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394960"/>
            <a:ext cx="10607040" cy="5943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2500" b="1">
                <a:solidFill>
                  <a:srgbClr val="48BEEB"/>
                </a:solidFill>
                <a:latin typeface="Aptos"/>
              </a:defRPr>
            </a:pPr>
            <a:r>
              <a:t>Спасибо за внимание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510528"/>
            <a:ext cx="8229600" cy="1828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defRPr sz="900" b="0">
                <a:solidFill>
                  <a:srgbClr val="9EB3CA"/>
                </a:solidFill>
                <a:latin typeface="Aptos"/>
              </a:defRPr>
            </a:pPr>
            <a:r>
              <a:t>Лабораторная работа № 7 · Neo4j · Вариант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>
              <a:defRPr sz="1000" b="0">
                <a:solidFill>
                  <a:srgbClr val="9EB3CA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